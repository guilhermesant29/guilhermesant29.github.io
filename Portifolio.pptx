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Extenda 40 Hecto" charset="1" panose="020B0003020200000002"/>
      <p:regular r:id="rId10"/>
    </p:embeddedFont>
    <p:embeddedFont>
      <p:font typeface="Poppins Bold" charset="1" panose="00000800000000000000"/>
      <p:regular r:id="rId11"/>
    </p:embeddedFont>
    <p:embeddedFont>
      <p:font typeface="Poppins" charset="1" panose="00000500000000000000"/>
      <p:regular r:id="rId12"/>
    </p:embeddedFont>
    <p:embeddedFont>
      <p:font typeface="Clear Sans" charset="1" panose="020B0503030202020304"/>
      <p:regular r:id="rId13"/>
    </p:embeddedFont>
    <p:embeddedFont>
      <p:font typeface="Poppins Bold Italics" charset="1" panose="00000800000000000000"/>
      <p:regular r:id="rId14"/>
    </p:embeddedFont>
    <p:embeddedFont>
      <p:font typeface="Open Sans Bold Italics" charset="1" panose="020B08060305040202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jpeg" Type="http://schemas.openxmlformats.org/officeDocument/2006/relationships/image"/><Relationship Id="rId8"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4986439" y="2362021"/>
            <a:ext cx="8884774" cy="1680844"/>
          </a:xfrm>
          <a:prstGeom prst="rect">
            <a:avLst/>
          </a:prstGeom>
        </p:spPr>
        <p:txBody>
          <a:bodyPr anchor="t" rtlCol="false" tIns="0" lIns="0" bIns="0" rIns="0">
            <a:spAutoFit/>
          </a:bodyPr>
          <a:lstStyle/>
          <a:p>
            <a:pPr algn="ctr">
              <a:lnSpc>
                <a:spcPts val="11889"/>
              </a:lnSpc>
            </a:pPr>
            <a:r>
              <a:rPr lang="en-US" sz="14499">
                <a:solidFill>
                  <a:srgbClr val="E0E0E4"/>
                </a:solidFill>
                <a:latin typeface="Extenda 40 Hecto"/>
                <a:ea typeface="Extenda 40 Hecto"/>
                <a:cs typeface="Extenda 40 Hecto"/>
                <a:sym typeface="Extenda 40 Hecto"/>
              </a:rPr>
              <a:t>GUILHERME SANTOS</a:t>
            </a:r>
          </a:p>
        </p:txBody>
      </p:sp>
      <p:sp>
        <p:nvSpPr>
          <p:cNvPr name="TextBox 4" id="4"/>
          <p:cNvSpPr txBox="true"/>
          <p:nvPr/>
        </p:nvSpPr>
        <p:spPr>
          <a:xfrm rot="0">
            <a:off x="4571326" y="4157165"/>
            <a:ext cx="9715001" cy="1322799"/>
          </a:xfrm>
          <a:prstGeom prst="rect">
            <a:avLst/>
          </a:prstGeom>
        </p:spPr>
        <p:txBody>
          <a:bodyPr anchor="t" rtlCol="false" tIns="0" lIns="0" bIns="0" rIns="0">
            <a:spAutoFit/>
          </a:bodyPr>
          <a:lstStyle/>
          <a:p>
            <a:pPr algn="ctr">
              <a:lnSpc>
                <a:spcPts val="3481"/>
              </a:lnSpc>
            </a:pPr>
            <a:r>
              <a:rPr lang="en-US" b="true" sz="4246">
                <a:solidFill>
                  <a:srgbClr val="E0E0E4"/>
                </a:solidFill>
                <a:latin typeface="Poppins Bold"/>
                <a:ea typeface="Poppins Bold"/>
                <a:cs typeface="Poppins Bold"/>
                <a:sym typeface="Poppins Bold"/>
              </a:rPr>
              <a:t>TECHNICAL</a:t>
            </a:r>
          </a:p>
          <a:p>
            <a:pPr algn="ctr">
              <a:lnSpc>
                <a:spcPts val="3481"/>
              </a:lnSpc>
            </a:pPr>
            <a:r>
              <a:rPr lang="en-US" b="true" sz="4246">
                <a:solidFill>
                  <a:srgbClr val="E0E0E4"/>
                </a:solidFill>
                <a:latin typeface="Poppins Bold"/>
                <a:ea typeface="Poppins Bold"/>
                <a:cs typeface="Poppins Bold"/>
                <a:sym typeface="Poppins Bold"/>
              </a:rPr>
              <a:t>IN </a:t>
            </a:r>
          </a:p>
          <a:p>
            <a:pPr algn="ctr">
              <a:lnSpc>
                <a:spcPts val="2952"/>
              </a:lnSpc>
            </a:pPr>
            <a:r>
              <a:rPr lang="en-US" b="true" sz="3600">
                <a:solidFill>
                  <a:srgbClr val="E0E0E4"/>
                </a:solidFill>
                <a:latin typeface="Poppins Bold"/>
                <a:ea typeface="Poppins Bold"/>
                <a:cs typeface="Poppins Bold"/>
                <a:sym typeface="Poppins Bold"/>
              </a:rPr>
              <a:t>CYBER SYSTEMS FOR AUTOMATION</a:t>
            </a:r>
          </a:p>
        </p:txBody>
      </p:sp>
      <p:sp>
        <p:nvSpPr>
          <p:cNvPr name="TextBox 5" id="5"/>
          <p:cNvSpPr txBox="true"/>
          <p:nvPr/>
        </p:nvSpPr>
        <p:spPr>
          <a:xfrm rot="0">
            <a:off x="6962987" y="6241786"/>
            <a:ext cx="4931678" cy="1027784"/>
          </a:xfrm>
          <a:prstGeom prst="rect">
            <a:avLst/>
          </a:prstGeom>
        </p:spPr>
        <p:txBody>
          <a:bodyPr anchor="t" rtlCol="false" tIns="0" lIns="0" bIns="0" rIns="0">
            <a:spAutoFit/>
          </a:bodyPr>
          <a:lstStyle/>
          <a:p>
            <a:pPr algn="ctr">
              <a:lnSpc>
                <a:spcPts val="4012"/>
              </a:lnSpc>
            </a:pPr>
            <a:r>
              <a:rPr lang="en-US" b="true" sz="3159">
                <a:solidFill>
                  <a:srgbClr val="E0E0E4"/>
                </a:solidFill>
                <a:latin typeface="Poppins Bold"/>
                <a:ea typeface="Poppins Bold"/>
                <a:cs typeface="Poppins Bold"/>
                <a:sym typeface="Poppins Bold"/>
              </a:rPr>
              <a:t> </a:t>
            </a:r>
            <a:r>
              <a:rPr lang="en-US" sz="3159">
                <a:solidFill>
                  <a:srgbClr val="E0E0E4"/>
                </a:solidFill>
                <a:latin typeface="Poppins"/>
                <a:ea typeface="Poppins"/>
                <a:cs typeface="Poppins"/>
                <a:sym typeface="Poppins"/>
              </a:rPr>
              <a:t>CYBERSECURITY ANALYST</a:t>
            </a:r>
          </a:p>
          <a:p>
            <a:pPr algn="ctr">
              <a:lnSpc>
                <a:spcPts val="4012"/>
              </a:lnSpc>
              <a:spcBef>
                <a:spcPct val="0"/>
              </a:spcBef>
            </a:pPr>
            <a:r>
              <a:rPr lang="en-US" sz="3159">
                <a:solidFill>
                  <a:srgbClr val="E0E0E4"/>
                </a:solidFill>
                <a:latin typeface="Poppins"/>
                <a:ea typeface="Poppins"/>
                <a:cs typeface="Poppins"/>
                <a:sym typeface="Poppins"/>
              </a:rPr>
              <a:t>DEVLOPER BACK-END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Freeform 3" id="3"/>
          <p:cNvSpPr/>
          <p:nvPr/>
        </p:nvSpPr>
        <p:spPr>
          <a:xfrm flipH="false" flipV="false" rot="0">
            <a:off x="7117461" y="2213610"/>
            <a:ext cx="4053078" cy="4114800"/>
          </a:xfrm>
          <a:custGeom>
            <a:avLst/>
            <a:gdLst/>
            <a:ahLst/>
            <a:cxnLst/>
            <a:rect r="r" b="b" t="t" l="l"/>
            <a:pathLst>
              <a:path h="4114800" w="4053078">
                <a:moveTo>
                  <a:pt x="0" y="0"/>
                </a:moveTo>
                <a:lnTo>
                  <a:pt x="4053078" y="0"/>
                </a:lnTo>
                <a:lnTo>
                  <a:pt x="405307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42023" y="7858669"/>
            <a:ext cx="2140932" cy="2140932"/>
          </a:xfrm>
          <a:custGeom>
            <a:avLst/>
            <a:gdLst/>
            <a:ahLst/>
            <a:cxnLst/>
            <a:rect r="r" b="b" t="t" l="l"/>
            <a:pathLst>
              <a:path h="2140932" w="2140932">
                <a:moveTo>
                  <a:pt x="0" y="0"/>
                </a:moveTo>
                <a:lnTo>
                  <a:pt x="2140932" y="0"/>
                </a:lnTo>
                <a:lnTo>
                  <a:pt x="2140932" y="2140932"/>
                </a:lnTo>
                <a:lnTo>
                  <a:pt x="0" y="21409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536377" y="860367"/>
            <a:ext cx="9556399" cy="3359837"/>
          </a:xfrm>
          <a:prstGeom prst="rect">
            <a:avLst/>
          </a:prstGeom>
        </p:spPr>
        <p:txBody>
          <a:bodyPr anchor="t" rtlCol="false" tIns="0" lIns="0" bIns="0" rIns="0">
            <a:spAutoFit/>
          </a:bodyPr>
          <a:lstStyle/>
          <a:p>
            <a:pPr algn="l">
              <a:lnSpc>
                <a:spcPts val="2101"/>
              </a:lnSpc>
            </a:pPr>
          </a:p>
          <a:p>
            <a:pPr algn="l">
              <a:lnSpc>
                <a:spcPts val="2101"/>
              </a:lnSpc>
            </a:pPr>
            <a:r>
              <a:rPr lang="en-US" sz="1501">
                <a:gradFill>
                  <a:gsLst>
                    <a:gs pos="0">
                      <a:srgbClr val="A6A6A6">
                        <a:alpha val="100000"/>
                      </a:srgbClr>
                    </a:gs>
                    <a:gs pos="100000">
                      <a:srgbClr val="FFFFFF">
                        <a:alpha val="100000"/>
                      </a:srgbClr>
                    </a:gs>
                  </a:gsLst>
                  <a:lin ang="0"/>
                </a:gradFill>
                <a:latin typeface="Clear Sans"/>
                <a:ea typeface="Clear Sans"/>
                <a:cs typeface="Clear Sans"/>
                <a:sym typeface="Clear Sans"/>
              </a:rPr>
              <a:t>I am a professio</a:t>
            </a:r>
            <a:r>
              <a:rPr lang="en-US" sz="1501">
                <a:gradFill>
                  <a:gsLst>
                    <a:gs pos="0">
                      <a:srgbClr val="A6A6A6">
                        <a:alpha val="100000"/>
                      </a:srgbClr>
                    </a:gs>
                    <a:gs pos="100000">
                      <a:srgbClr val="FFFFFF">
                        <a:alpha val="100000"/>
                      </a:srgbClr>
                    </a:gs>
                  </a:gsLst>
                  <a:lin ang="0"/>
                </a:gradFill>
                <a:latin typeface="Clear Sans"/>
                <a:ea typeface="Clear Sans"/>
                <a:cs typeface="Clear Sans"/>
                <a:sym typeface="Clear Sans"/>
              </a:rPr>
              <a:t>nal dedicated to Cybersecurity, Software Development, and Industrial Automation, with a strong interest in using technology to solve complex problems and create efficient, secure, and scalable solutions. My journey began at the age of 16, when I started my technical education at SENAI, specializing in automation and cybersecurity. This experience introduced me to the intersection between technology, industrial automation, programming, and digital security, shaping the way I approach both technical challenges and innovation.</a:t>
            </a:r>
          </a:p>
          <a:p>
            <a:pPr algn="l">
              <a:lnSpc>
                <a:spcPts val="2101"/>
              </a:lnSpc>
            </a:pPr>
            <a:r>
              <a:rPr lang="en-US" sz="1501">
                <a:gradFill>
                  <a:gsLst>
                    <a:gs pos="0">
                      <a:srgbClr val="A6A6A6">
                        <a:alpha val="100000"/>
                      </a:srgbClr>
                    </a:gs>
                    <a:gs pos="100000">
                      <a:srgbClr val="FFFFFF">
                        <a:alpha val="100000"/>
                      </a:srgbClr>
                    </a:gs>
                  </a:gsLst>
                  <a:lin ang="0"/>
                </a:gradFill>
                <a:latin typeface="Clear Sans"/>
                <a:ea typeface="Clear Sans"/>
                <a:cs typeface="Clear Sans"/>
                <a:sym typeface="Clear Sans"/>
              </a:rPr>
              <a:t>Currently, I work as an Automation Cyber-systems Technician at Consórcio Cantareira (involving projects such as Odbreath, Renea, and the Rodoanel reform), where I apply knowledge in automation, systems security, and industrial solutions development. This hands-on experience has reinforced my commitment to creating systems that automate processes, optimize workflows, and contribute to more reliable and intelligent work environments.</a:t>
            </a:r>
          </a:p>
          <a:p>
            <a:pPr algn="l">
              <a:lnSpc>
                <a:spcPts val="2101"/>
              </a:lnSpc>
            </a:pPr>
          </a:p>
        </p:txBody>
      </p:sp>
      <p:sp>
        <p:nvSpPr>
          <p:cNvPr name="TextBox 6" id="6"/>
          <p:cNvSpPr txBox="true"/>
          <p:nvPr/>
        </p:nvSpPr>
        <p:spPr>
          <a:xfrm rot="0">
            <a:off x="536377" y="696918"/>
            <a:ext cx="1487126" cy="555498"/>
          </a:xfrm>
          <a:prstGeom prst="rect">
            <a:avLst/>
          </a:prstGeom>
        </p:spPr>
        <p:txBody>
          <a:bodyPr anchor="t" rtlCol="false" tIns="0" lIns="0" bIns="0" rIns="0">
            <a:spAutoFit/>
          </a:bodyPr>
          <a:lstStyle/>
          <a:p>
            <a:pPr algn="ctr">
              <a:lnSpc>
                <a:spcPts val="3936"/>
              </a:lnSpc>
            </a:pPr>
            <a:r>
              <a:rPr lang="en-US" sz="4800">
                <a:solidFill>
                  <a:srgbClr val="E0E0E4"/>
                </a:solidFill>
                <a:latin typeface="Extenda 40 Hecto"/>
                <a:ea typeface="Extenda 40 Hecto"/>
                <a:cs typeface="Extenda 40 Hecto"/>
                <a:sym typeface="Extenda 40 Hecto"/>
              </a:rPr>
              <a:t>ABOUT ME</a:t>
            </a:r>
          </a:p>
        </p:txBody>
      </p:sp>
      <p:sp>
        <p:nvSpPr>
          <p:cNvPr name="TextBox 7" id="7"/>
          <p:cNvSpPr txBox="true"/>
          <p:nvPr/>
        </p:nvSpPr>
        <p:spPr>
          <a:xfrm rot="0">
            <a:off x="536377" y="4175760"/>
            <a:ext cx="3716848" cy="821055"/>
          </a:xfrm>
          <a:prstGeom prst="rect">
            <a:avLst/>
          </a:prstGeom>
        </p:spPr>
        <p:txBody>
          <a:bodyPr anchor="t" rtlCol="false" tIns="0" lIns="0" bIns="0" rIns="0">
            <a:spAutoFit/>
          </a:bodyPr>
          <a:lstStyle/>
          <a:p>
            <a:pPr algn="ctr">
              <a:lnSpc>
                <a:spcPts val="6719"/>
              </a:lnSpc>
              <a:spcBef>
                <a:spcPct val="0"/>
              </a:spcBef>
            </a:pPr>
            <a:r>
              <a:rPr lang="en-US" sz="4800">
                <a:solidFill>
                  <a:srgbClr val="FFFFFF"/>
                </a:solidFill>
                <a:latin typeface="Extenda 40 Hecto"/>
                <a:ea typeface="Extenda 40 Hecto"/>
                <a:cs typeface="Extenda 40 Hecto"/>
                <a:sym typeface="Extenda 40 Hecto"/>
              </a:rPr>
              <a:t>ACHIEVEMENTS AND SKILLS</a:t>
            </a:r>
          </a:p>
        </p:txBody>
      </p:sp>
      <p:sp>
        <p:nvSpPr>
          <p:cNvPr name="TextBox 8" id="8"/>
          <p:cNvSpPr txBox="true"/>
          <p:nvPr/>
        </p:nvSpPr>
        <p:spPr>
          <a:xfrm rot="0">
            <a:off x="536377" y="4832259"/>
            <a:ext cx="9331104" cy="3026410"/>
          </a:xfrm>
          <a:prstGeom prst="rect">
            <a:avLst/>
          </a:prstGeom>
        </p:spPr>
        <p:txBody>
          <a:bodyPr anchor="t" rtlCol="false" tIns="0" lIns="0" bIns="0" rIns="0">
            <a:spAutoFit/>
          </a:bodyPr>
          <a:lstStyle/>
          <a:p>
            <a:pPr algn="l">
              <a:lnSpc>
                <a:spcPts val="2240"/>
              </a:lnSpc>
            </a:pPr>
          </a:p>
          <a:p>
            <a:pPr algn="l">
              <a:lnSpc>
                <a:spcPts val="2240"/>
              </a:lnSpc>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My journey is marked by projects that combine theory and practice, with highlights including:</a:t>
            </a:r>
          </a:p>
          <a:p>
            <a:pPr algn="l" marL="345441" indent="-172721" lvl="1">
              <a:lnSpc>
                <a:spcPts val="2240"/>
              </a:lnSpc>
              <a:buFont typeface="Arial"/>
              <a:buChar char="•"/>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Industrial Automation: Experience with PLCs, SCADA, and industrial systems integration, ensuring operational efficiency and security.</a:t>
            </a:r>
          </a:p>
          <a:p>
            <a:pPr algn="l" marL="345441" indent="-172721" lvl="1">
              <a:lnSpc>
                <a:spcPts val="2240"/>
              </a:lnSpc>
              <a:buFont typeface="Arial"/>
              <a:buChar char="•"/>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Cybersecurity: Implementation of digital security best practices, data protection, and risk mitigation in technological environments.</a:t>
            </a:r>
          </a:p>
          <a:p>
            <a:pPr algn="l" marL="345441" indent="-172721" lvl="1">
              <a:lnSpc>
                <a:spcPts val="2240"/>
              </a:lnSpc>
              <a:buFont typeface="Arial"/>
              <a:buChar char="•"/>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Software Development: Creation of tools and systems that solve real-world problems, with a focus on scalability and usability.</a:t>
            </a:r>
          </a:p>
          <a:p>
            <a:pPr algn="l" marL="345441" indent="-172721" lvl="1">
              <a:lnSpc>
                <a:spcPts val="2240"/>
              </a:lnSpc>
              <a:buFont typeface="Arial"/>
              <a:buChar char="•"/>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Project Management: Ability to lead and execute technical projects, aligning expectations and delivering results within deadlines.</a:t>
            </a:r>
          </a:p>
          <a:p>
            <a:pPr algn="l">
              <a:lnSpc>
                <a:spcPts val="2240"/>
              </a:lnSpc>
            </a:pPr>
          </a:p>
        </p:txBody>
      </p:sp>
      <p:sp>
        <p:nvSpPr>
          <p:cNvPr name="TextBox 9" id="9"/>
          <p:cNvSpPr txBox="true"/>
          <p:nvPr/>
        </p:nvSpPr>
        <p:spPr>
          <a:xfrm rot="0">
            <a:off x="10378924" y="1050151"/>
            <a:ext cx="7001374" cy="2750185"/>
          </a:xfrm>
          <a:prstGeom prst="rect">
            <a:avLst/>
          </a:prstGeom>
        </p:spPr>
        <p:txBody>
          <a:bodyPr anchor="t" rtlCol="false" tIns="0" lIns="0" bIns="0" rIns="0">
            <a:spAutoFit/>
          </a:bodyPr>
          <a:lstStyle/>
          <a:p>
            <a:pPr algn="l">
              <a:lnSpc>
                <a:spcPts val="2240"/>
              </a:lnSpc>
            </a:pPr>
          </a:p>
          <a:p>
            <a:pPr algn="l">
              <a:lnSpc>
                <a:spcPts val="2240"/>
              </a:lnSpc>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I believe that technology is most valuable when it goes beyond simply solving a problem — it should create better processes, stronger systems, and opportunities for continuous improvement. For this reason, I approach each project with a combination of technical knowledge, analytical thinking, creativity, and attention to detail. My goal is to continue expanding my knowledge and applying technology in increasingly innovative ways, developing solutions that are not only functional, but also secure, scalable, efficient, and capable of creating real impact.</a:t>
            </a:r>
          </a:p>
          <a:p>
            <a:pPr algn="l">
              <a:lnSpc>
                <a:spcPts val="2240"/>
              </a:lnSpc>
            </a:pPr>
          </a:p>
        </p:txBody>
      </p:sp>
      <p:sp>
        <p:nvSpPr>
          <p:cNvPr name="TextBox 10" id="10"/>
          <p:cNvSpPr txBox="true"/>
          <p:nvPr/>
        </p:nvSpPr>
        <p:spPr>
          <a:xfrm rot="0">
            <a:off x="10378924" y="430218"/>
            <a:ext cx="2939262" cy="816919"/>
          </a:xfrm>
          <a:prstGeom prst="rect">
            <a:avLst/>
          </a:prstGeom>
        </p:spPr>
        <p:txBody>
          <a:bodyPr anchor="t" rtlCol="false" tIns="0" lIns="0" bIns="0" rIns="0">
            <a:spAutoFit/>
          </a:bodyPr>
          <a:lstStyle/>
          <a:p>
            <a:pPr algn="ctr">
              <a:lnSpc>
                <a:spcPts val="6681"/>
              </a:lnSpc>
              <a:spcBef>
                <a:spcPct val="0"/>
              </a:spcBef>
            </a:pPr>
            <a:r>
              <a:rPr lang="en-US" sz="4772">
                <a:solidFill>
                  <a:srgbClr val="FFFFFF"/>
                </a:solidFill>
                <a:latin typeface="Extenda 40 Hecto"/>
                <a:ea typeface="Extenda 40 Hecto"/>
                <a:cs typeface="Extenda 40 Hecto"/>
                <a:sym typeface="Extenda 40 Hecto"/>
              </a:rPr>
              <a:t>PROF</a:t>
            </a:r>
            <a:r>
              <a:rPr lang="en-US" sz="4772">
                <a:solidFill>
                  <a:srgbClr val="FFFFFF"/>
                </a:solidFill>
                <a:latin typeface="Extenda 40 Hecto"/>
                <a:ea typeface="Extenda 40 Hecto"/>
                <a:cs typeface="Extenda 40 Hecto"/>
                <a:sym typeface="Extenda 40 Hecto"/>
              </a:rPr>
              <a:t>ESSIONAL GOAL</a:t>
            </a:r>
          </a:p>
        </p:txBody>
      </p:sp>
      <p:sp>
        <p:nvSpPr>
          <p:cNvPr name="TextBox 11" id="11"/>
          <p:cNvSpPr txBox="true"/>
          <p:nvPr/>
        </p:nvSpPr>
        <p:spPr>
          <a:xfrm rot="0">
            <a:off x="10092776" y="4968240"/>
            <a:ext cx="8014958" cy="2750185"/>
          </a:xfrm>
          <a:prstGeom prst="rect">
            <a:avLst/>
          </a:prstGeom>
        </p:spPr>
        <p:txBody>
          <a:bodyPr anchor="t" rtlCol="false" tIns="0" lIns="0" bIns="0" rIns="0">
            <a:spAutoFit/>
          </a:bodyPr>
          <a:lstStyle/>
          <a:p>
            <a:pPr algn="l">
              <a:lnSpc>
                <a:spcPts val="2240"/>
              </a:lnSpc>
            </a:pPr>
          </a:p>
          <a:p>
            <a:pPr algn="l" marL="345441" indent="-172721" lvl="1">
              <a:lnSpc>
                <a:spcPts val="2240"/>
              </a:lnSpc>
              <a:buFont typeface="Arial"/>
              <a:buChar char="•"/>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Programming Languages: Python, C#, C++, SQL.</a:t>
            </a:r>
          </a:p>
          <a:p>
            <a:pPr algn="l" marL="345441" indent="-172721" lvl="1">
              <a:lnSpc>
                <a:spcPts val="2240"/>
              </a:lnSpc>
              <a:buFont typeface="Arial"/>
              <a:buChar char="•"/>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Automation and Control: PLCs (Siemens, Allen-Bradley), SCADA, HMI.</a:t>
            </a:r>
          </a:p>
          <a:p>
            <a:pPr algn="l" marL="345441" indent="-172721" lvl="1">
              <a:lnSpc>
                <a:spcPts val="2240"/>
              </a:lnSpc>
              <a:buFont typeface="Arial"/>
              <a:buChar char="•"/>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Cybersecurity: Vulnerability analysis, system hardening, industrial network protection.</a:t>
            </a:r>
          </a:p>
          <a:p>
            <a:pPr algn="l" marL="345441" indent="-172721" lvl="1">
              <a:lnSpc>
                <a:spcPts val="2240"/>
              </a:lnSpc>
              <a:buFont typeface="Arial"/>
              <a:buChar char="•"/>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Tools and Platforms: Git/GitHub, Docker, Linux, Windows Server, Microsoft 365, Google Workspace.</a:t>
            </a:r>
          </a:p>
          <a:p>
            <a:pPr algn="l" marL="345441" indent="-172721" lvl="1">
              <a:lnSpc>
                <a:spcPts val="2240"/>
              </a:lnSpc>
              <a:buFont typeface="Arial"/>
              <a:buChar char="•"/>
            </a:pPr>
            <a:r>
              <a:rPr lang="en-US" sz="1600">
                <a:gradFill>
                  <a:gsLst>
                    <a:gs pos="0">
                      <a:srgbClr val="A6A6A6">
                        <a:alpha val="100000"/>
                      </a:srgbClr>
                    </a:gs>
                    <a:gs pos="100000">
                      <a:srgbClr val="FFFFFF">
                        <a:alpha val="100000"/>
                      </a:srgbClr>
                    </a:gs>
                  </a:gsLst>
                  <a:lin ang="0"/>
                </a:gradFill>
                <a:latin typeface="Clear Sans"/>
                <a:ea typeface="Clear Sans"/>
                <a:cs typeface="Clear Sans"/>
                <a:sym typeface="Clear Sans"/>
              </a:rPr>
              <a:t>Soft Skills: Analytical thinking, problem-solving, technical communication, teamwork.</a:t>
            </a:r>
          </a:p>
          <a:p>
            <a:pPr algn="l">
              <a:lnSpc>
                <a:spcPts val="2240"/>
              </a:lnSpc>
            </a:pPr>
          </a:p>
        </p:txBody>
      </p:sp>
      <p:sp>
        <p:nvSpPr>
          <p:cNvPr name="TextBox 12" id="12"/>
          <p:cNvSpPr txBox="true"/>
          <p:nvPr/>
        </p:nvSpPr>
        <p:spPr>
          <a:xfrm rot="0">
            <a:off x="10378924" y="4124954"/>
            <a:ext cx="2642752" cy="821055"/>
          </a:xfrm>
          <a:prstGeom prst="rect">
            <a:avLst/>
          </a:prstGeom>
        </p:spPr>
        <p:txBody>
          <a:bodyPr anchor="t" rtlCol="false" tIns="0" lIns="0" bIns="0" rIns="0">
            <a:spAutoFit/>
          </a:bodyPr>
          <a:lstStyle/>
          <a:p>
            <a:pPr algn="ctr">
              <a:lnSpc>
                <a:spcPts val="6719"/>
              </a:lnSpc>
              <a:spcBef>
                <a:spcPct val="0"/>
              </a:spcBef>
            </a:pPr>
            <a:r>
              <a:rPr lang="en-US" sz="4800">
                <a:solidFill>
                  <a:srgbClr val="FFFFFF"/>
                </a:solidFill>
                <a:latin typeface="Extenda 40 Hecto"/>
                <a:ea typeface="Extenda 40 Hecto"/>
                <a:cs typeface="Extenda 40 Hecto"/>
                <a:sym typeface="Extenda 40 Hecto"/>
              </a:rPr>
              <a:t>TE</a:t>
            </a:r>
            <a:r>
              <a:rPr lang="en-US" sz="4800">
                <a:solidFill>
                  <a:srgbClr val="FFFFFF"/>
                </a:solidFill>
                <a:latin typeface="Extenda 40 Hecto"/>
                <a:ea typeface="Extenda 40 Hecto"/>
                <a:cs typeface="Extenda 40 Hecto"/>
                <a:sym typeface="Extenda 40 Hecto"/>
              </a:rPr>
              <a:t>CHNICAL SKILLS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Freeform 3" id="3"/>
          <p:cNvSpPr/>
          <p:nvPr/>
        </p:nvSpPr>
        <p:spPr>
          <a:xfrm flipH="false" flipV="false" rot="0">
            <a:off x="9431434" y="5686612"/>
            <a:ext cx="4756994" cy="4114800"/>
          </a:xfrm>
          <a:custGeom>
            <a:avLst/>
            <a:gdLst/>
            <a:ahLst/>
            <a:cxnLst/>
            <a:rect r="r" b="b" t="t" l="l"/>
            <a:pathLst>
              <a:path h="4114800" w="4756994">
                <a:moveTo>
                  <a:pt x="0" y="0"/>
                </a:moveTo>
                <a:lnTo>
                  <a:pt x="4756994" y="0"/>
                </a:lnTo>
                <a:lnTo>
                  <a:pt x="475699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36451" y="1415995"/>
            <a:ext cx="3757446" cy="3438063"/>
          </a:xfrm>
          <a:custGeom>
            <a:avLst/>
            <a:gdLst/>
            <a:ahLst/>
            <a:cxnLst/>
            <a:rect r="r" b="b" t="t" l="l"/>
            <a:pathLst>
              <a:path h="3438063" w="3757446">
                <a:moveTo>
                  <a:pt x="0" y="0"/>
                </a:moveTo>
                <a:lnTo>
                  <a:pt x="3757446" y="0"/>
                </a:lnTo>
                <a:lnTo>
                  <a:pt x="3757446" y="3438063"/>
                </a:lnTo>
                <a:lnTo>
                  <a:pt x="0" y="34380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1912945" y="3429559"/>
            <a:ext cx="5636829" cy="4178300"/>
          </a:xfrm>
          <a:custGeom>
            <a:avLst/>
            <a:gdLst/>
            <a:ahLst/>
            <a:cxnLst/>
            <a:rect r="r" b="b" t="t" l="l"/>
            <a:pathLst>
              <a:path h="4178300" w="5636829">
                <a:moveTo>
                  <a:pt x="0" y="0"/>
                </a:moveTo>
                <a:lnTo>
                  <a:pt x="5636829" y="0"/>
                </a:lnTo>
                <a:lnTo>
                  <a:pt x="5636829" y="4178300"/>
                </a:lnTo>
                <a:lnTo>
                  <a:pt x="0" y="4178300"/>
                </a:lnTo>
                <a:lnTo>
                  <a:pt x="0" y="0"/>
                </a:lnTo>
                <a:close/>
              </a:path>
            </a:pathLst>
          </a:custGeom>
          <a:blipFill>
            <a:blip r:embed="rId7"/>
            <a:stretch>
              <a:fillRect l="0" t="0" r="0" b="0"/>
            </a:stretch>
          </a:blipFill>
        </p:spPr>
      </p:sp>
      <p:sp>
        <p:nvSpPr>
          <p:cNvPr name="Freeform 6" id="6"/>
          <p:cNvSpPr/>
          <p:nvPr/>
        </p:nvSpPr>
        <p:spPr>
          <a:xfrm flipH="false" flipV="false" rot="0">
            <a:off x="1170467" y="2772853"/>
            <a:ext cx="1352279" cy="346521"/>
          </a:xfrm>
          <a:custGeom>
            <a:avLst/>
            <a:gdLst/>
            <a:ahLst/>
            <a:cxnLst/>
            <a:rect r="r" b="b" t="t" l="l"/>
            <a:pathLst>
              <a:path h="346521" w="1352279">
                <a:moveTo>
                  <a:pt x="0" y="0"/>
                </a:moveTo>
                <a:lnTo>
                  <a:pt x="1352279" y="0"/>
                </a:lnTo>
                <a:lnTo>
                  <a:pt x="1352279" y="346522"/>
                </a:lnTo>
                <a:lnTo>
                  <a:pt x="0" y="346522"/>
                </a:lnTo>
                <a:lnTo>
                  <a:pt x="0" y="0"/>
                </a:lnTo>
                <a:close/>
              </a:path>
            </a:pathLst>
          </a:custGeom>
          <a:blipFill>
            <a:blip r:embed="rId8"/>
            <a:stretch>
              <a:fillRect l="0" t="0" r="0" b="0"/>
            </a:stretch>
          </a:blipFill>
        </p:spPr>
      </p:sp>
      <p:sp>
        <p:nvSpPr>
          <p:cNvPr name="TextBox 7" id="7"/>
          <p:cNvSpPr txBox="true"/>
          <p:nvPr/>
        </p:nvSpPr>
        <p:spPr>
          <a:xfrm rot="0">
            <a:off x="717348" y="3420034"/>
            <a:ext cx="10820065" cy="5421630"/>
          </a:xfrm>
          <a:prstGeom prst="rect">
            <a:avLst/>
          </a:prstGeom>
        </p:spPr>
        <p:txBody>
          <a:bodyPr anchor="t" rtlCol="false" tIns="0" lIns="0" bIns="0" rIns="0">
            <a:spAutoFit/>
          </a:bodyPr>
          <a:lstStyle/>
          <a:p>
            <a:pPr algn="l">
              <a:lnSpc>
                <a:spcPts val="2070"/>
              </a:lnSpc>
            </a:pPr>
            <a:r>
              <a:rPr lang="en-US" sz="1800">
                <a:solidFill>
                  <a:srgbClr val="F0F0F0"/>
                </a:solidFill>
                <a:latin typeface="Poppins"/>
                <a:ea typeface="Poppins"/>
                <a:cs typeface="Poppins"/>
                <a:sym typeface="Poppins"/>
              </a:rPr>
              <a:t>Software Engineer specializing in backend architecture and the convergence of Information Technology (IT) and Operational Technology (OT). I design and build secure, scalable backend systems that integrate industrial automation, communication protocols, and operational technologies with modern applications and relational databases.</a:t>
            </a:r>
          </a:p>
          <a:p>
            <a:pPr algn="l">
              <a:lnSpc>
                <a:spcPts val="2070"/>
              </a:lnSpc>
            </a:pPr>
          </a:p>
          <a:p>
            <a:pPr algn="l">
              <a:lnSpc>
                <a:spcPts val="2070"/>
              </a:lnSpc>
            </a:pPr>
            <a:r>
              <a:rPr lang="en-US" sz="1800">
                <a:solidFill>
                  <a:srgbClr val="F0F0F0"/>
                </a:solidFill>
                <a:latin typeface="Poppins"/>
                <a:ea typeface="Poppins"/>
                <a:cs typeface="Poppins"/>
                <a:sym typeface="Poppins"/>
              </a:rPr>
              <a:t>My technical focus spans backend development, secure coding, application security (AppSec), database optimization, system hardening, and cybersecurity, with an emphasis on delivering reliable software that operates safely across both IT and industrial environments. I prioritize performance, maintainability, observability, and security throughout the software development lifecycle.</a:t>
            </a:r>
          </a:p>
          <a:p>
            <a:pPr algn="l">
              <a:lnSpc>
                <a:spcPts val="2070"/>
              </a:lnSpc>
            </a:pPr>
          </a:p>
          <a:p>
            <a:pPr algn="l">
              <a:lnSpc>
                <a:spcPts val="2070"/>
              </a:lnSpc>
            </a:pPr>
            <a:r>
              <a:rPr lang="en-US" sz="1800">
                <a:solidFill>
                  <a:srgbClr val="F0F0F0"/>
                </a:solidFill>
                <a:latin typeface="Poppins"/>
                <a:ea typeface="Poppins"/>
                <a:cs typeface="Poppins"/>
                <a:sym typeface="Poppins"/>
              </a:rPr>
              <a:t>I am particularly interested in architecting scalable, resilient, and fault-tolerant systems—using clear boundaries, well-defined interfaces, and automation—to reduce complexity and increase reliability. I approach each project with a security-first mindset, combining analytical thinking, creativity, and attention to detail to deliver robust solutions.</a:t>
            </a:r>
          </a:p>
          <a:p>
            <a:pPr algn="l">
              <a:lnSpc>
                <a:spcPts val="2070"/>
              </a:lnSpc>
            </a:pPr>
          </a:p>
          <a:p>
            <a:pPr algn="l">
              <a:lnSpc>
                <a:spcPts val="2070"/>
              </a:lnSpc>
            </a:pPr>
            <a:r>
              <a:rPr lang="en-US" sz="1800">
                <a:solidFill>
                  <a:srgbClr val="F0F0F0"/>
                </a:solidFill>
                <a:latin typeface="Poppins"/>
                <a:ea typeface="Poppins"/>
                <a:cs typeface="Poppins"/>
                <a:sym typeface="Poppins"/>
              </a:rPr>
              <a:t>Currently, I am continuously expanding my expertise in software engineering, backend architecture, cybersecurity, and industrial systems, aiming to progress toward a Senior Software Engineer role and contribute to high-impact, secure, and scalable technological solutions.</a:t>
            </a:r>
          </a:p>
          <a:p>
            <a:pPr algn="l">
              <a:lnSpc>
                <a:spcPts val="2070"/>
              </a:lnSpc>
            </a:pPr>
          </a:p>
        </p:txBody>
      </p:sp>
      <p:sp>
        <p:nvSpPr>
          <p:cNvPr name="TextBox 8" id="8"/>
          <p:cNvSpPr txBox="true"/>
          <p:nvPr/>
        </p:nvSpPr>
        <p:spPr>
          <a:xfrm rot="0">
            <a:off x="2550655" y="2747677"/>
            <a:ext cx="7928514" cy="387350"/>
          </a:xfrm>
          <a:prstGeom prst="rect">
            <a:avLst/>
          </a:prstGeom>
        </p:spPr>
        <p:txBody>
          <a:bodyPr anchor="t" rtlCol="false" tIns="0" lIns="0" bIns="0" rIns="0">
            <a:spAutoFit/>
          </a:bodyPr>
          <a:lstStyle/>
          <a:p>
            <a:pPr algn="l" marL="0" indent="0" lvl="0">
              <a:lnSpc>
                <a:spcPts val="2874"/>
              </a:lnSpc>
              <a:spcBef>
                <a:spcPct val="0"/>
              </a:spcBef>
            </a:pPr>
            <a:r>
              <a:rPr lang="en-US" b="true" sz="2499" i="true">
                <a:solidFill>
                  <a:srgbClr val="F0F0F0"/>
                </a:solidFill>
                <a:latin typeface="Poppins Bold Italics"/>
                <a:ea typeface="Poppins Bold Italics"/>
                <a:cs typeface="Poppins Bold Italics"/>
                <a:sym typeface="Poppins Bold Italics"/>
              </a:rPr>
              <a:t> </a:t>
            </a:r>
            <a:r>
              <a:rPr lang="en-US" b="true" sz="2499" strike="noStrike" u="none">
                <a:solidFill>
                  <a:srgbClr val="F0F0F0"/>
                </a:solidFill>
                <a:latin typeface="Poppins Bold"/>
                <a:ea typeface="Poppins Bold"/>
                <a:cs typeface="Poppins Bold"/>
                <a:sym typeface="Poppins Bold"/>
              </a:rPr>
              <a:t>HERMENEGILDO CAMPOS DE ALMEIDA 2025 - 2026</a:t>
            </a:r>
          </a:p>
        </p:txBody>
      </p:sp>
      <p:sp>
        <p:nvSpPr>
          <p:cNvPr name="TextBox 9" id="9"/>
          <p:cNvSpPr txBox="true"/>
          <p:nvPr/>
        </p:nvSpPr>
        <p:spPr>
          <a:xfrm rot="0">
            <a:off x="6308918" y="1671353"/>
            <a:ext cx="6245033" cy="1085849"/>
          </a:xfrm>
          <a:prstGeom prst="rect">
            <a:avLst/>
          </a:prstGeom>
        </p:spPr>
        <p:txBody>
          <a:bodyPr anchor="t" rtlCol="false" tIns="0" lIns="0" bIns="0" rIns="0">
            <a:spAutoFit/>
          </a:bodyPr>
          <a:lstStyle/>
          <a:p>
            <a:pPr algn="ctr">
              <a:lnSpc>
                <a:spcPts val="7499"/>
              </a:lnSpc>
            </a:pPr>
            <a:r>
              <a:rPr lang="en-US" sz="9999">
                <a:gradFill>
                  <a:gsLst>
                    <a:gs pos="0">
                      <a:srgbClr val="A6A6A6">
                        <a:alpha val="100000"/>
                      </a:srgbClr>
                    </a:gs>
                    <a:gs pos="100000">
                      <a:srgbClr val="FFFFFF">
                        <a:alpha val="100000"/>
                      </a:srgbClr>
                    </a:gs>
                  </a:gsLst>
                  <a:lin ang="0"/>
                </a:gradFill>
                <a:latin typeface="Extenda 40 Hecto"/>
                <a:ea typeface="Extenda 40 Hecto"/>
                <a:cs typeface="Extenda 40 Hecto"/>
                <a:sym typeface="Extenda 40 Hecto"/>
              </a:rPr>
              <a:t>ACADEMIC TRAINING</a:t>
            </a:r>
          </a:p>
        </p:txBody>
      </p:sp>
      <p:sp>
        <p:nvSpPr>
          <p:cNvPr name="TextBox 10" id="10"/>
          <p:cNvSpPr txBox="true"/>
          <p:nvPr/>
        </p:nvSpPr>
        <p:spPr>
          <a:xfrm rot="0">
            <a:off x="11537413" y="7715437"/>
            <a:ext cx="6554164" cy="297180"/>
          </a:xfrm>
          <a:prstGeom prst="rect">
            <a:avLst/>
          </a:prstGeom>
        </p:spPr>
        <p:txBody>
          <a:bodyPr anchor="t" rtlCol="false" tIns="0" lIns="0" bIns="0" rIns="0">
            <a:spAutoFit/>
          </a:bodyPr>
          <a:lstStyle/>
          <a:p>
            <a:pPr algn="ctr">
              <a:lnSpc>
                <a:spcPts val="2520"/>
              </a:lnSpc>
            </a:pPr>
            <a:r>
              <a:rPr lang="en-US" b="true" sz="1800" i="true">
                <a:solidFill>
                  <a:srgbClr val="FFFFFF"/>
                </a:solidFill>
                <a:latin typeface="Open Sans Bold Italics"/>
                <a:ea typeface="Open Sans Bold Italics"/>
                <a:cs typeface="Open Sans Bold Italics"/>
                <a:sym typeface="Open Sans Bold Italics"/>
              </a:rPr>
              <a:t>Conhecendo a empresa </a:t>
            </a:r>
            <a:r>
              <a:rPr lang="en-US" b="true" sz="1800" i="true">
                <a:solidFill>
                  <a:srgbClr val="FFFFFF"/>
                </a:solidFill>
                <a:latin typeface="Open Sans Bold Italics"/>
                <a:ea typeface="Open Sans Bold Italics"/>
                <a:cs typeface="Open Sans Bold Italics"/>
                <a:sym typeface="Open Sans Bold Italics"/>
              </a:rPr>
              <a:t>Oracle, São Paulo, 2 semestre do CT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Freeform 3" id="3"/>
          <p:cNvSpPr/>
          <p:nvPr/>
        </p:nvSpPr>
        <p:spPr>
          <a:xfrm flipH="false" flipV="false" rot="0">
            <a:off x="1028700" y="3268671"/>
            <a:ext cx="625928" cy="624126"/>
          </a:xfrm>
          <a:custGeom>
            <a:avLst/>
            <a:gdLst/>
            <a:ahLst/>
            <a:cxnLst/>
            <a:rect r="r" b="b" t="t" l="l"/>
            <a:pathLst>
              <a:path h="624126" w="625928">
                <a:moveTo>
                  <a:pt x="0" y="0"/>
                </a:moveTo>
                <a:lnTo>
                  <a:pt x="625928" y="0"/>
                </a:lnTo>
                <a:lnTo>
                  <a:pt x="625928" y="624125"/>
                </a:lnTo>
                <a:lnTo>
                  <a:pt x="0" y="624125"/>
                </a:lnTo>
                <a:lnTo>
                  <a:pt x="0" y="0"/>
                </a:lnTo>
                <a:close/>
              </a:path>
            </a:pathLst>
          </a:custGeom>
          <a:blipFill>
            <a:blip r:embed="rId3">
              <a:extLst>
                <a:ext uri="{96DAC541-7B7A-43D3-8B79-37D633B846F1}">
                  <asvg:svgBlip xmlns:asvg="http://schemas.microsoft.com/office/drawing/2016/SVG/main" r:embed="rId4"/>
                </a:ext>
              </a:extLst>
            </a:blip>
            <a:stretch>
              <a:fillRect l="0" t="-43" r="-16984" b="0"/>
            </a:stretch>
          </a:blipFill>
        </p:spPr>
      </p:sp>
      <p:sp>
        <p:nvSpPr>
          <p:cNvPr name="Freeform 4" id="4"/>
          <p:cNvSpPr/>
          <p:nvPr/>
        </p:nvSpPr>
        <p:spPr>
          <a:xfrm flipH="false" flipV="false" rot="0">
            <a:off x="1028700" y="4290281"/>
            <a:ext cx="625928" cy="625928"/>
          </a:xfrm>
          <a:custGeom>
            <a:avLst/>
            <a:gdLst/>
            <a:ahLst/>
            <a:cxnLst/>
            <a:rect r="r" b="b" t="t" l="l"/>
            <a:pathLst>
              <a:path h="625928" w="625928">
                <a:moveTo>
                  <a:pt x="0" y="0"/>
                </a:moveTo>
                <a:lnTo>
                  <a:pt x="625928" y="0"/>
                </a:lnTo>
                <a:lnTo>
                  <a:pt x="625928" y="625928"/>
                </a:lnTo>
                <a:lnTo>
                  <a:pt x="0" y="6259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144000" y="3134182"/>
            <a:ext cx="758614" cy="758614"/>
          </a:xfrm>
          <a:custGeom>
            <a:avLst/>
            <a:gdLst/>
            <a:ahLst/>
            <a:cxnLst/>
            <a:rect r="r" b="b" t="t" l="l"/>
            <a:pathLst>
              <a:path h="758614" w="758614">
                <a:moveTo>
                  <a:pt x="0" y="0"/>
                </a:moveTo>
                <a:lnTo>
                  <a:pt x="758614" y="0"/>
                </a:lnTo>
                <a:lnTo>
                  <a:pt x="758614" y="758614"/>
                </a:lnTo>
                <a:lnTo>
                  <a:pt x="0" y="7586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028700" y="5316259"/>
            <a:ext cx="630631" cy="630631"/>
          </a:xfrm>
          <a:custGeom>
            <a:avLst/>
            <a:gdLst/>
            <a:ahLst/>
            <a:cxnLst/>
            <a:rect r="r" b="b" t="t" l="l"/>
            <a:pathLst>
              <a:path h="630631" w="630631">
                <a:moveTo>
                  <a:pt x="0" y="0"/>
                </a:moveTo>
                <a:lnTo>
                  <a:pt x="630631" y="0"/>
                </a:lnTo>
                <a:lnTo>
                  <a:pt x="630631" y="630631"/>
                </a:lnTo>
                <a:lnTo>
                  <a:pt x="0" y="6306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1028700" y="1533525"/>
            <a:ext cx="5620421" cy="1700529"/>
          </a:xfrm>
          <a:prstGeom prst="rect">
            <a:avLst/>
          </a:prstGeom>
        </p:spPr>
        <p:txBody>
          <a:bodyPr anchor="t" rtlCol="false" tIns="0" lIns="0" bIns="0" rIns="0">
            <a:spAutoFit/>
          </a:bodyPr>
          <a:lstStyle/>
          <a:p>
            <a:pPr algn="ctr">
              <a:lnSpc>
                <a:spcPts val="12034"/>
              </a:lnSpc>
            </a:pPr>
            <a:r>
              <a:rPr lang="en-US" sz="14499">
                <a:gradFill>
                  <a:gsLst>
                    <a:gs pos="0">
                      <a:srgbClr val="A6A6A6">
                        <a:alpha val="100000"/>
                      </a:srgbClr>
                    </a:gs>
                    <a:gs pos="100000">
                      <a:srgbClr val="FFFFFF">
                        <a:alpha val="100000"/>
                      </a:srgbClr>
                    </a:gs>
                  </a:gsLst>
                  <a:lin ang="0"/>
                </a:gradFill>
                <a:latin typeface="Extenda 40 Hecto"/>
                <a:ea typeface="Extenda 40 Hecto"/>
                <a:cs typeface="Extenda 40 Hecto"/>
                <a:sym typeface="Extenda 40 Hecto"/>
              </a:rPr>
              <a:t>CONTACT ME</a:t>
            </a:r>
          </a:p>
        </p:txBody>
      </p:sp>
      <p:sp>
        <p:nvSpPr>
          <p:cNvPr name="TextBox 8" id="8"/>
          <p:cNvSpPr txBox="true"/>
          <p:nvPr/>
        </p:nvSpPr>
        <p:spPr>
          <a:xfrm rot="0">
            <a:off x="1886777" y="4444495"/>
            <a:ext cx="5120639" cy="307975"/>
          </a:xfrm>
          <a:prstGeom prst="rect">
            <a:avLst/>
          </a:prstGeom>
        </p:spPr>
        <p:txBody>
          <a:bodyPr anchor="t" rtlCol="false" tIns="0" lIns="0" bIns="0" rIns="0">
            <a:spAutoFit/>
          </a:bodyPr>
          <a:lstStyle/>
          <a:p>
            <a:pPr algn="just">
              <a:lnSpc>
                <a:spcPts val="2299"/>
              </a:lnSpc>
            </a:pPr>
            <a:r>
              <a:rPr lang="en-US" sz="1999">
                <a:gradFill>
                  <a:gsLst>
                    <a:gs pos="0">
                      <a:srgbClr val="5DE0E6">
                        <a:alpha val="100000"/>
                      </a:srgbClr>
                    </a:gs>
                    <a:gs pos="100000">
                      <a:srgbClr val="004AAD">
                        <a:alpha val="100000"/>
                      </a:srgbClr>
                    </a:gs>
                  </a:gsLst>
                  <a:lin ang="0"/>
                </a:gradFill>
                <a:latin typeface="Poppins"/>
                <a:ea typeface="Poppins"/>
                <a:cs typeface="Poppins"/>
                <a:sym typeface="Poppins"/>
              </a:rPr>
              <a:t>https://github.com/GuilhermeSANT29</a:t>
            </a:r>
          </a:p>
        </p:txBody>
      </p:sp>
      <p:sp>
        <p:nvSpPr>
          <p:cNvPr name="TextBox 9" id="9"/>
          <p:cNvSpPr txBox="true"/>
          <p:nvPr/>
        </p:nvSpPr>
        <p:spPr>
          <a:xfrm rot="0">
            <a:off x="1886777" y="5463300"/>
            <a:ext cx="6069745" cy="317500"/>
          </a:xfrm>
          <a:prstGeom prst="rect">
            <a:avLst/>
          </a:prstGeom>
        </p:spPr>
        <p:txBody>
          <a:bodyPr anchor="t" rtlCol="false" tIns="0" lIns="0" bIns="0" rIns="0">
            <a:spAutoFit/>
          </a:bodyPr>
          <a:lstStyle/>
          <a:p>
            <a:pPr algn="just">
              <a:lnSpc>
                <a:spcPts val="2300"/>
              </a:lnSpc>
            </a:pPr>
            <a:r>
              <a:rPr lang="en-US" sz="2000" spc="-40">
                <a:gradFill>
                  <a:gsLst>
                    <a:gs pos="0">
                      <a:srgbClr val="5DE0E6">
                        <a:alpha val="100000"/>
                      </a:srgbClr>
                    </a:gs>
                    <a:gs pos="100000">
                      <a:srgbClr val="004AAD">
                        <a:alpha val="100000"/>
                      </a:srgbClr>
                    </a:gs>
                  </a:gsLst>
                  <a:lin ang="0"/>
                </a:gradFill>
                <a:latin typeface="Poppins"/>
                <a:ea typeface="Poppins"/>
                <a:cs typeface="Poppins"/>
                <a:sym typeface="Poppins"/>
              </a:rPr>
              <a:t>contate.guilherme.santos@gmail.com</a:t>
            </a:r>
          </a:p>
        </p:txBody>
      </p:sp>
      <p:sp>
        <p:nvSpPr>
          <p:cNvPr name="TextBox 10" id="10"/>
          <p:cNvSpPr txBox="true"/>
          <p:nvPr/>
        </p:nvSpPr>
        <p:spPr>
          <a:xfrm rot="0">
            <a:off x="1886777" y="3412458"/>
            <a:ext cx="6558852" cy="317500"/>
          </a:xfrm>
          <a:prstGeom prst="rect">
            <a:avLst/>
          </a:prstGeom>
        </p:spPr>
        <p:txBody>
          <a:bodyPr anchor="t" rtlCol="false" tIns="0" lIns="0" bIns="0" rIns="0">
            <a:spAutoFit/>
          </a:bodyPr>
          <a:lstStyle/>
          <a:p>
            <a:pPr algn="just">
              <a:lnSpc>
                <a:spcPts val="2300"/>
              </a:lnSpc>
            </a:pPr>
            <a:r>
              <a:rPr lang="en-US" sz="2000" spc="-40">
                <a:gradFill>
                  <a:gsLst>
                    <a:gs pos="0">
                      <a:srgbClr val="5DE0E6">
                        <a:alpha val="100000"/>
                      </a:srgbClr>
                    </a:gs>
                    <a:gs pos="100000">
                      <a:srgbClr val="004AAD">
                        <a:alpha val="100000"/>
                      </a:srgbClr>
                    </a:gs>
                  </a:gsLst>
                  <a:lin ang="0"/>
                </a:gradFill>
                <a:latin typeface="Poppins"/>
                <a:ea typeface="Poppins"/>
                <a:cs typeface="Poppins"/>
                <a:sym typeface="Poppins"/>
              </a:rPr>
              <a:t>https://www.linkedin.com/in/gui-santos05092008/</a:t>
            </a:r>
          </a:p>
        </p:txBody>
      </p:sp>
      <p:sp>
        <p:nvSpPr>
          <p:cNvPr name="TextBox 11" id="11"/>
          <p:cNvSpPr txBox="true"/>
          <p:nvPr/>
        </p:nvSpPr>
        <p:spPr>
          <a:xfrm rot="0">
            <a:off x="10131214" y="3275364"/>
            <a:ext cx="3142804" cy="466725"/>
          </a:xfrm>
          <a:prstGeom prst="rect">
            <a:avLst/>
          </a:prstGeom>
        </p:spPr>
        <p:txBody>
          <a:bodyPr anchor="t" rtlCol="false" tIns="0" lIns="0" bIns="0" rIns="0">
            <a:spAutoFit/>
          </a:bodyPr>
          <a:lstStyle/>
          <a:p>
            <a:pPr algn="just">
              <a:lnSpc>
                <a:spcPts val="3450"/>
              </a:lnSpc>
            </a:pPr>
            <a:r>
              <a:rPr lang="en-US" sz="3000">
                <a:gradFill>
                  <a:gsLst>
                    <a:gs pos="0">
                      <a:srgbClr val="8C52FF">
                        <a:alpha val="100000"/>
                      </a:srgbClr>
                    </a:gs>
                    <a:gs pos="100000">
                      <a:srgbClr val="FF914D">
                        <a:alpha val="100000"/>
                      </a:srgbClr>
                    </a:gs>
                  </a:gsLst>
                  <a:lin ang="0"/>
                </a:gradFill>
                <a:latin typeface="Poppins"/>
                <a:ea typeface="Poppins"/>
                <a:cs typeface="Poppins"/>
                <a:sym typeface="Poppins"/>
              </a:rPr>
              <a:t>@Sant_winner</a:t>
            </a:r>
          </a:p>
        </p:txBody>
      </p:sp>
      <p:sp>
        <p:nvSpPr>
          <p:cNvPr name="TextBox 12" id="12"/>
          <p:cNvSpPr txBox="true"/>
          <p:nvPr/>
        </p:nvSpPr>
        <p:spPr>
          <a:xfrm rot="0">
            <a:off x="9144000" y="1533525"/>
            <a:ext cx="6739902" cy="1700529"/>
          </a:xfrm>
          <a:prstGeom prst="rect">
            <a:avLst/>
          </a:prstGeom>
        </p:spPr>
        <p:txBody>
          <a:bodyPr anchor="t" rtlCol="false" tIns="0" lIns="0" bIns="0" rIns="0">
            <a:spAutoFit/>
          </a:bodyPr>
          <a:lstStyle/>
          <a:p>
            <a:pPr algn="ctr">
              <a:lnSpc>
                <a:spcPts val="12034"/>
              </a:lnSpc>
            </a:pPr>
            <a:r>
              <a:rPr lang="en-US" sz="14499">
                <a:gradFill>
                  <a:gsLst>
                    <a:gs pos="0">
                      <a:srgbClr val="A6A6A6">
                        <a:alpha val="100000"/>
                      </a:srgbClr>
                    </a:gs>
                    <a:gs pos="100000">
                      <a:srgbClr val="FFFFFF">
                        <a:alpha val="100000"/>
                      </a:srgbClr>
                    </a:gs>
                  </a:gsLst>
                  <a:lin ang="0"/>
                </a:gradFill>
                <a:latin typeface="Extenda 40 Hecto"/>
                <a:ea typeface="Extenda 40 Hecto"/>
                <a:cs typeface="Extenda 40 Hecto"/>
                <a:sym typeface="Extenda 40 Hecto"/>
              </a:rPr>
              <a:t>REDES SOCIAIS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DAG6kIfr4yU</dc:identifier>
  <dcterms:modified xsi:type="dcterms:W3CDTF">2011-08-01T06:04:30Z</dcterms:modified>
  <cp:revision>1</cp:revision>
  <dc:title>Portifólio Técnico em cibersistemas</dc:title>
</cp:coreProperties>
</file>